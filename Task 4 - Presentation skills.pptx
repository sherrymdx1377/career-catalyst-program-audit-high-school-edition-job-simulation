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6" r:id="rId5"/>
    <p:sldId id="467" r:id="rId6"/>
    <p:sldId id="468" r:id="rId7"/>
    <p:sldId id="469" r:id="rId8"/>
    <p:sldId id="466" r:id="rId9"/>
  </p:sldIdLst>
  <p:sldSz cx="12192000" cy="6858000"/>
  <p:notesSz cx="6858000" cy="9144000"/>
  <p:embeddedFontLst>
    <p:embeddedFont>
      <p:font typeface="KPMG Bold" panose="020B0604020202020204" charset="0"/>
      <p:bold r:id="rId12"/>
      <p:italic r:id="rId13"/>
      <p:boldItalic r:id="rId14"/>
    </p:embeddedFont>
  </p:embeddedFontLst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06CC2D-CCAE-FA5D-B502-57165430D836}" name="Sattele, Maxwell" initials="SM" userId="S::msattele@kpmg.com::9fe59f78-4dca-483a-ba31-82cb21bd75ee" providerId="AD"/>
  <p188:author id="{983E943C-D399-2699-6151-1C79B0F0AE9C}" name="Cox, Meghan" initials="CM" userId="Cox, Meghan" providerId="None"/>
  <p188:author id="{E24E5589-54BF-9690-6B22-F0E28925F2FB}" name="Ganesan, Madhavi" initials="GM" userId="S::madhaviganesan@kpmg.com::dea7e85c-99ad-441c-8472-7e5c1e871bf3" providerId="AD"/>
  <p188:author id="{304DE0B8-253E-CD8E-8316-437BF6F7068F}" name="Babers, Alana" initials="BA" userId="S::alanababers@kpmg.com::25041ca0-9ee0-4582-8f09-91666fd5f66d" providerId="AD"/>
  <p188:author id="{69F746E4-0B9D-F66E-9219-D5BC4872C1F4}" name="Khawani, Ashwin V" initials="KV" userId="S::akhawani@kpmg.com::37ab0065-243a-491b-8708-e2361de483c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ite, Catherine" initials="WC" lastIdx="18" clrIdx="0">
    <p:extLst>
      <p:ext uri="{19B8F6BF-5375-455C-9EA6-DF929625EA0E}">
        <p15:presenceInfo xmlns:p15="http://schemas.microsoft.com/office/powerpoint/2012/main" userId="S::cjwhite@kpmg.ca::0dea3d63-dcad-4748-a310-11ef28cac8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EBDA"/>
    <a:srgbClr val="ACEAFF"/>
    <a:srgbClr val="E5E5E5"/>
    <a:srgbClr val="B2B2B2"/>
    <a:srgbClr val="989898"/>
    <a:srgbClr val="666666"/>
    <a:srgbClr val="333333"/>
    <a:srgbClr val="FFFFFF"/>
    <a:srgbClr val="00C0AE"/>
    <a:srgbClr val="098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 autoAdjust="0"/>
    <p:restoredTop sz="89296" autoAdjust="0"/>
  </p:normalViewPr>
  <p:slideViewPr>
    <p:cSldViewPr snapToGrid="0" showGuides="1">
      <p:cViewPr varScale="1">
        <p:scale>
          <a:sx n="73" d="100"/>
          <a:sy n="73" d="100"/>
        </p:scale>
        <p:origin x="1147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7" d="100"/>
        <a:sy n="97" d="100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241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4D5F6-3183-428A-85C8-51C26DD4B5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08F93-CC89-4063-A187-7B1597877F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BA84C-EC3E-4598-9C4D-8CE1D2A956F5}" type="datetimeFigureOut">
              <a:rPr lang="en-GB" smtClean="0">
                <a:latin typeface="Arial" panose="020B0604020202020204" pitchFamily="34" charset="0"/>
              </a:rPr>
              <a:t>02/05/2025</a:t>
            </a:fld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4D309-D941-4AA7-AD70-D334F1D59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99044-B362-4E47-A054-164531AC8F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0F9D0-9E03-483D-AC3B-FCB5CBA393CA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0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C57A4BF-14E0-48E2-B42F-B29D277000AB}" type="datetimeFigureOut">
              <a:rPr lang="en-GB" smtClean="0"/>
              <a:pPr/>
              <a:t>02/05/2025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B5D948F-A673-4DC7-A0E9-FA274EAF36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130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80A8EA-2B0E-411E-90AD-02F7AF476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1470479"/>
            <a:ext cx="6350010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74841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274841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52717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CB44795-849A-41CE-8B25-0DE9EB09F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1470479"/>
            <a:ext cx="3053689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74841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274841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973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9F2B47DB-768D-47AE-9D19-E74198AD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405716" y="371311"/>
            <a:ext cx="7794097" cy="541406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A9E5DDB-2262-4657-AA4F-9CE87AA83B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1123" y="636808"/>
            <a:ext cx="7260639" cy="3950972"/>
          </a:xfrm>
        </p:spPr>
        <p:txBody>
          <a:bodyPr/>
          <a:lstStyle>
            <a:lvl1pPr>
              <a:defRPr lang="en-GB" sz="66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Title slide text only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672180" y="4710484"/>
            <a:ext cx="7260639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6964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8DFFAD0-690D-40FA-92E3-26DD5F2C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6A6246C3-5BC1-4146-9E95-B8B3F1B7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435789" y="371311"/>
            <a:ext cx="3764024" cy="5415923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702252" y="636808"/>
            <a:ext cx="3229510" cy="3950972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106" name="Text Placeholder 3">
            <a:extLst>
              <a:ext uri="{FF2B5EF4-FFF2-40B4-BE49-F238E27FC236}">
                <a16:creationId xmlns:a16="http://schemas.microsoft.com/office/drawing/2014/main" id="{E9A5689E-A0AC-4126-A5A7-5CD8528C6C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02252" y="4710484"/>
            <a:ext cx="3229510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699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93430CE4-5B69-4517-8F25-A3A23061E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7346" y="371311"/>
            <a:ext cx="914400" cy="3683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42337" y="1468380"/>
            <a:ext cx="3551186" cy="3098109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648628" y="4746353"/>
            <a:ext cx="3551186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E6EA-7AA4-4C98-8E47-F5F83446E051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998477" y="1468380"/>
            <a:ext cx="5885053" cy="4087973"/>
          </a:xfrm>
          <a:solidFill>
            <a:schemeClr val="accent1"/>
          </a:solidFill>
        </p:spPr>
        <p:txBody>
          <a:bodyPr anchor="ctr"/>
          <a:lstStyle>
            <a:lvl1pPr algn="ct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3362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9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EB65A9-A8F4-40C5-AC08-82132F1B1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1560" y="371311"/>
            <a:ext cx="914400" cy="3683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9910" y="1453783"/>
            <a:ext cx="5301922" cy="344622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5489910" y="4953575"/>
            <a:ext cx="5301922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445BA5F7-F13B-4C20-B0E0-112E55400EE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998477" y="371311"/>
            <a:ext cx="3727618" cy="5392264"/>
          </a:xfr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74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23EE304-3FCA-4CF8-84B4-178F6B5C5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E8E14845-BB2E-4EA2-8CBD-F35A520E36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98478" y="1456388"/>
            <a:ext cx="3174866" cy="342774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23222F2-0E39-45E4-8918-49125CD7C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8478" y="5007010"/>
            <a:ext cx="3174866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D0B9D96-907F-4E37-B5A7-830AD095F223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915965" y="1456388"/>
            <a:ext cx="6283848" cy="4364991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617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A9325F0-DADC-43A7-A4FF-97033BB22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98478" y="1456388"/>
            <a:ext cx="5249471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998478" y="5007009"/>
            <a:ext cx="5249471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3BD1F9C-C7CA-4162-BCD4-0E8701D300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28967" y="371311"/>
            <a:ext cx="3764557" cy="5445698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8208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3141-5B21-49DB-9803-98F4E6E17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813800" y="6295536"/>
            <a:ext cx="202019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05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5363" y="1330126"/>
            <a:ext cx="10198237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4358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_doub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733E-E364-489F-B7AF-D2002EE59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2B9FA-46EE-4504-A8DE-8C56CCE29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538" y="1700213"/>
            <a:ext cx="1020127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239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Text_double titl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AE32-05EB-420A-97AB-3254804D3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2B9FA-46EE-4504-A8DE-8C56CCE29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538" y="1700213"/>
            <a:ext cx="10201275" cy="4176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361950" indent="-180975"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567897B5-3A96-440B-8018-FDD880280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F1CF3-C473-4B59-9814-FFEC4D26E8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  <a:endParaRPr lang="en-GB" sz="6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F4561A05-7671-4539-AB97-A9979F67EB4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19669-F96A-4239-990D-B48E0AE682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820154" y="6295536"/>
            <a:ext cx="201384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D5ED2D-F17F-4481-8AE6-4D9EA0535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224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Text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D4DF521-FBEB-4C5C-80DB-DDFC4B7E3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10201275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3141-5B21-49DB-9803-98F4E6E17F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896358" y="6295536"/>
            <a:ext cx="193763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9372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20800" y="1330126"/>
            <a:ext cx="4968000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996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Text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918AE-52AC-4531-9640-0D2CA3A2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D4DF521-FBEB-4C5C-80DB-DDFC4B7E3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4968000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ED3211B-3C86-4413-BA20-A4F81B443B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20800" y="1330126"/>
            <a:ext cx="4968875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3141-5B21-49DB-9803-98F4E6E17F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864606" y="6295536"/>
            <a:ext cx="196938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8">
            <a:extLst>
              <a:ext uri="{FF2B5EF4-FFF2-40B4-BE49-F238E27FC236}">
                <a16:creationId xmlns:a16="http://schemas.microsoft.com/office/drawing/2014/main" id="{79D6C947-06F1-4188-A558-E10C77FF1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84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1C8742-D774-4F89-A78A-3FE2DD10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6220800" y="1330126"/>
            <a:ext cx="4968000" cy="454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8853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1360"/>
            <a:ext cx="10195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1003200" y="3742126"/>
            <a:ext cx="10195200" cy="213574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86615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43F486-864A-4617-9E68-0A1C3CD9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1003200" y="1330126"/>
            <a:ext cx="4968000" cy="454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220800" y="1330126"/>
            <a:ext cx="4968000" cy="454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0827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hart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93B809-7A30-47BC-953E-AF9FE10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1360"/>
            <a:ext cx="3187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1003200" y="3742126"/>
            <a:ext cx="3187200" cy="2134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507546" y="1331360"/>
            <a:ext cx="3187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4507546" y="3742126"/>
            <a:ext cx="3187200" cy="2134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011892" y="1331360"/>
            <a:ext cx="3187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8011892" y="3742126"/>
            <a:ext cx="3187200" cy="2134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1336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F9AD75-9C5D-491A-8EB6-1E4763A9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59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5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51C022-C0B7-4310-BC9F-D7C63034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D3A5B3AC-C2E0-40CF-9D31-036461F790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A68D3E60-F95F-4250-92C1-89CF93433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969E3860-942E-40E2-A1C8-AF5DF2967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D8E592C-F128-4E4B-970B-BFB5C0F2A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E580107-2025-4C04-9884-4A6DBB63D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E6B17CD-E0EF-40A4-A171-4E4B731CE0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BC4D5128-392D-4FC9-A83F-FA43203A40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3C9A44B-2A8F-416D-A76B-F3A018572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8EB5529-8601-4864-9983-FBB672B8B9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715BC67-F699-49E6-B5D7-22ED9DFA81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3258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580C36-1E70-46DD-9783-AFD66B7DE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6860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9724627-195E-4BFD-9A60-FFD6EECF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557E01-A30E-46EA-BAB3-4F33E0992F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5363" y="1330325"/>
            <a:ext cx="10185400" cy="53860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720597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437994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155391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590187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469478F-D315-4922-A7E4-E575455BF3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72788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9912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70D7C0-6953-439A-A54E-CED5652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3865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4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90D0D6-CEB9-47AA-B0BF-EB213FE3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C84B130-9B9F-460C-87A1-4E3012ECEA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A5FBEF-FE77-4CC8-B2D5-D94327DAF6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C076374-F8FA-413A-9C7F-81C823512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59D9BAA-2BF4-4A94-BAA4-5D091A2962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2DC24D7-E120-435A-8A2A-98E939AC4C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3D170C1-7106-44D2-A62F-A804F244A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1F15369-328E-43E6-894F-1F86414EB3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DAC4CF-AC2F-4D83-9FB0-DDFB71EE9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33415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Box with Icon and Cente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CCA206-C726-4930-8059-66751EC1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19862B5-E58D-4F98-8070-F04E6659AC3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3346" y="1330325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4967685 w 4967685"/>
              <a:gd name="connsiteY1" fmla="*/ 0 h 2132614"/>
              <a:gd name="connsiteX2" fmla="*/ 4967685 w 4967685"/>
              <a:gd name="connsiteY2" fmla="*/ 1013538 h 2132614"/>
              <a:gd name="connsiteX3" fmla="*/ 3364916 w 4967685"/>
              <a:gd name="connsiteY3" fmla="*/ 1013538 h 2132614"/>
              <a:gd name="connsiteX4" fmla="*/ 3364916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4967685" y="0"/>
                </a:lnTo>
                <a:lnTo>
                  <a:pt x="4967685" y="1013538"/>
                </a:lnTo>
                <a:lnTo>
                  <a:pt x="3364916" y="1013538"/>
                </a:lnTo>
                <a:lnTo>
                  <a:pt x="3364916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EEBDCDC-F212-4ED4-8D32-7B1BC919EF2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232260" y="1330325"/>
            <a:ext cx="4970724" cy="2132614"/>
          </a:xfrm>
          <a:custGeom>
            <a:avLst/>
            <a:gdLst>
              <a:gd name="connsiteX0" fmla="*/ 0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1602767 w 4970724"/>
              <a:gd name="connsiteY3" fmla="*/ 2132614 h 2132614"/>
              <a:gd name="connsiteX4" fmla="*/ 1602767 w 4970724"/>
              <a:gd name="connsiteY4" fmla="*/ 1013538 h 2132614"/>
              <a:gd name="connsiteX5" fmla="*/ 0 w 4970724"/>
              <a:gd name="connsiteY5" fmla="*/ 1013538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0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1602767" y="2132614"/>
                </a:lnTo>
                <a:lnTo>
                  <a:pt x="1602767" y="1013538"/>
                </a:lnTo>
                <a:lnTo>
                  <a:pt x="0" y="10135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21"/>
          </p:nvPr>
        </p:nvSpPr>
        <p:spPr bwMode="gray">
          <a:xfrm>
            <a:off x="4571176" y="2546022"/>
            <a:ext cx="3049649" cy="21183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08000" tIns="108000" rIns="108000" bIns="108000" anchor="ctr" anchorCtr="1">
            <a:noAutofit/>
          </a:bodyPr>
          <a:lstStyle>
            <a:lvl1pPr algn="ctr"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E0E984E-3A85-42BD-A2C6-26D3EB300D8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003346" y="3747502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3364916 w 4967685"/>
              <a:gd name="connsiteY1" fmla="*/ 0 h 2132614"/>
              <a:gd name="connsiteX2" fmla="*/ 3364916 w 4967685"/>
              <a:gd name="connsiteY2" fmla="*/ 1119077 h 2132614"/>
              <a:gd name="connsiteX3" fmla="*/ 4967685 w 4967685"/>
              <a:gd name="connsiteY3" fmla="*/ 1119077 h 2132614"/>
              <a:gd name="connsiteX4" fmla="*/ 4967685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3364916" y="0"/>
                </a:lnTo>
                <a:lnTo>
                  <a:pt x="3364916" y="1119077"/>
                </a:lnTo>
                <a:lnTo>
                  <a:pt x="4967685" y="1119077"/>
                </a:lnTo>
                <a:lnTo>
                  <a:pt x="4967685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DB6DB5B-6EBB-4E77-8ECE-2DE4424BD66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32260" y="3747502"/>
            <a:ext cx="4970724" cy="2132614"/>
          </a:xfrm>
          <a:custGeom>
            <a:avLst/>
            <a:gdLst>
              <a:gd name="connsiteX0" fmla="*/ 1602767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0 w 4970724"/>
              <a:gd name="connsiteY3" fmla="*/ 2132614 h 2132614"/>
              <a:gd name="connsiteX4" fmla="*/ 0 w 4970724"/>
              <a:gd name="connsiteY4" fmla="*/ 1119077 h 2132614"/>
              <a:gd name="connsiteX5" fmla="*/ 1602767 w 4970724"/>
              <a:gd name="connsiteY5" fmla="*/ 1119077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1602767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0" y="2132614"/>
                </a:lnTo>
                <a:lnTo>
                  <a:pt x="0" y="1119077"/>
                </a:lnTo>
                <a:lnTo>
                  <a:pt x="1602767" y="111907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8581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lu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76913D-77B2-43C9-9A9E-B86D68E1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3"/>
            <a:ext cx="4968000" cy="4156211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3"/>
            <a:ext cx="4968000" cy="4156211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5353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Qua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F8E881-FC4C-4F00-9389-FF3C71D7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56956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Quad Boxes BG Dark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275135-3A5F-40EA-83D5-8A21BF90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E8B6691E-17EA-480D-B598-F314E1A68E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1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2086F202-0162-4310-A956-FCCC947433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B2FCC9C9-35DE-4F3C-A352-30EE65DD5B8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1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9F2358C-C167-462D-9F76-6D66B9B409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383342E-84C2-404C-8D37-45747A1916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1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EA017BC0-9170-4186-94F7-40E80F981A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4C0C9B8C-19B0-44D7-9F0F-975D45D4007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1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BE27B3E2-E887-473C-8464-38B061F67E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763B05F-830B-4267-AD78-15D92D15E48D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359EB3-99CA-467E-9F82-D5B531A28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13A210-92DD-4299-9F1D-B2FE60EC31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902702" y="6295536"/>
            <a:ext cx="193129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C51904-D930-45AA-AF92-A006847C8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8">
            <a:extLst>
              <a:ext uri="{FF2B5EF4-FFF2-40B4-BE49-F238E27FC236}">
                <a16:creationId xmlns:a16="http://schemas.microsoft.com/office/drawing/2014/main" id="{3FE807FD-1F53-40C0-958E-7B645C12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364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0537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869611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0537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256639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87A788-0BF5-4419-BCFC-809F6D2E9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0537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17B18B8B-EB09-48D8-AC31-3A9DFAC0B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5F7723F4-8321-43A3-962F-3DEEE5C6D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760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935A1578-15A7-4FE7-8BC2-3ADC725A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4D5492-D401-42A2-B377-EA2722098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98476" y="2881529"/>
            <a:ext cx="2023200" cy="367957"/>
            <a:chOff x="998476" y="2881529"/>
            <a:chExt cx="2023200" cy="36795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196AFE-0767-4ACF-9869-412F4845EABF}"/>
                </a:ext>
              </a:extLst>
            </p:cNvPr>
            <p:cNvSpPr/>
            <p:nvPr userDrawn="1"/>
          </p:nvSpPr>
          <p:spPr>
            <a:xfrm>
              <a:off x="1441950" y="2918577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42C7C2-E55C-467A-A194-4BA78575F316}"/>
                </a:ext>
              </a:extLst>
            </p:cNvPr>
            <p:cNvSpPr/>
            <p:nvPr userDrawn="1"/>
          </p:nvSpPr>
          <p:spPr>
            <a:xfrm>
              <a:off x="1877844" y="2918577"/>
              <a:ext cx="281156" cy="3229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45E1FE7-629E-4892-B2EB-2FDAB3326BE5}"/>
                </a:ext>
              </a:extLst>
            </p:cNvPr>
            <p:cNvSpPr/>
            <p:nvPr userDrawn="1"/>
          </p:nvSpPr>
          <p:spPr>
            <a:xfrm>
              <a:off x="2689276" y="2924173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dirty="0">
                <a:solidFill>
                  <a:schemeClr val="bg1"/>
                </a:solidFill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7E3B322-EB53-4C7E-8968-4B7B3CE2432E}"/>
                </a:ext>
              </a:extLst>
            </p:cNvPr>
            <p:cNvSpPr/>
            <p:nvPr userDrawn="1"/>
          </p:nvSpPr>
          <p:spPr>
            <a:xfrm>
              <a:off x="1025526" y="2924174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dirty="0">
                <a:solidFill>
                  <a:schemeClr val="bg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F3E6F56-5300-4CC2-8B6F-98341C903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2950" y="2881529"/>
              <a:ext cx="360000" cy="360000"/>
            </a:xfrm>
            <a:prstGeom prst="rect">
              <a:avLst/>
            </a:prstGeom>
          </p:spPr>
        </p:pic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5688464F-C48A-4F62-97E1-E717A76F03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2336" y="2881529"/>
              <a:ext cx="359648" cy="360000"/>
            </a:xfrm>
            <a:prstGeom prst="rect">
              <a:avLst/>
            </a:prstGeom>
          </p:spPr>
        </p:pic>
        <p:pic>
          <p:nvPicPr>
            <p:cNvPr id="12" name="Picture 11" descr="Logo&#10;&#10;Description automatically generated">
              <a:extLst>
                <a:ext uri="{FF2B5EF4-FFF2-40B4-BE49-F238E27FC236}">
                  <a16:creationId xmlns:a16="http://schemas.microsoft.com/office/drawing/2014/main" id="{3DBC0AA5-6153-434E-A0C9-A5D940745C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4350" y="2889486"/>
              <a:ext cx="360000" cy="360000"/>
            </a:xfrm>
            <a:prstGeom prst="rect">
              <a:avLst/>
            </a:prstGeom>
          </p:spPr>
        </p:pic>
        <p:pic>
          <p:nvPicPr>
            <p:cNvPr id="13" name="Picture 12" descr="Logo&#10;&#10;Description automatically generated">
              <a:extLst>
                <a:ext uri="{FF2B5EF4-FFF2-40B4-BE49-F238E27FC236}">
                  <a16:creationId xmlns:a16="http://schemas.microsoft.com/office/drawing/2014/main" id="{809B7D2B-5280-4ED4-B112-B6C654C52E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476" y="2884275"/>
              <a:ext cx="360000" cy="360000"/>
            </a:xfrm>
            <a:prstGeom prst="rect">
              <a:avLst/>
            </a:prstGeom>
          </p:spPr>
        </p:pic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B338E268-56D8-4524-BB26-DA84FEEF86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1676" y="2881529"/>
              <a:ext cx="360000" cy="360000"/>
            </a:xfrm>
            <a:prstGeom prst="rect">
              <a:avLst/>
            </a:prstGeom>
          </p:spPr>
        </p:pic>
      </p:grp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E01CBC1-FC71-43BD-845D-21EEEFA256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012" y="3351965"/>
            <a:ext cx="2411738" cy="119064"/>
          </a:xfrm>
        </p:spPr>
        <p:txBody>
          <a:bodyPr/>
          <a:lstStyle>
            <a:lvl1pPr>
              <a:buFontTx/>
              <a:buNone/>
              <a:defRPr sz="1200" b="1">
                <a:solidFill>
                  <a:schemeClr val="bg1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E9CC-2A2B-4C75-8522-60824F3AC7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702050"/>
            <a:ext cx="6660000" cy="1843088"/>
          </a:xfrm>
        </p:spPr>
        <p:txBody>
          <a:bodyPr anchor="b"/>
          <a:lstStyle>
            <a:lvl1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Box 10"/>
          <p:cNvSpPr txBox="1"/>
          <p:nvPr userDrawn="1">
            <p:custDataLst>
              <p:tags r:id="rId1"/>
            </p:custDataLst>
          </p:nvPr>
        </p:nvSpPr>
        <p:spPr>
          <a:xfrm>
            <a:off x="989263" y="5750095"/>
            <a:ext cx="214161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</p:spTree>
    <p:extLst>
      <p:ext uri="{BB962C8B-B14F-4D97-AF65-F5344CB8AC3E}">
        <p14:creationId xmlns:p14="http://schemas.microsoft.com/office/powerpoint/2010/main" val="32672736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light gradient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A51C6BDD-4F02-45D2-886C-4899A473F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66C4FFA-336D-6A77-D854-E38ADB514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781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2022 KPMG LLP, a Delaware limited liability partnership and a member firm of the KPMG global organization of independent member firms affiliated with KPMG International Limited, a private English company limited by guarantee. All rights reserved.  NDP373338-1A</a:t>
            </a:r>
          </a:p>
        </p:txBody>
      </p:sp>
      <p:sp>
        <p:nvSpPr>
          <p:cNvPr id="25" name="TextBox 2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36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144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83" r:id="rId2"/>
    <p:sldLayoutId id="2147483749" r:id="rId3"/>
    <p:sldLayoutId id="2147483750" r:id="rId4"/>
    <p:sldLayoutId id="2147483767" r:id="rId5"/>
    <p:sldLayoutId id="2147483768" r:id="rId6"/>
    <p:sldLayoutId id="2147483765" r:id="rId7"/>
    <p:sldLayoutId id="2147483766" r:id="rId8"/>
    <p:sldLayoutId id="2147483666" r:id="rId9"/>
    <p:sldLayoutId id="2147483712" r:id="rId10"/>
    <p:sldLayoutId id="2147483664" r:id="rId11"/>
    <p:sldLayoutId id="2147483769" r:id="rId12"/>
    <p:sldLayoutId id="2147483770" r:id="rId13"/>
    <p:sldLayoutId id="2147483714" r:id="rId14"/>
    <p:sldLayoutId id="2147483689" r:id="rId15"/>
    <p:sldLayoutId id="2147483716" r:id="rId16"/>
    <p:sldLayoutId id="2147483690" r:id="rId17"/>
    <p:sldLayoutId id="2147483692" r:id="rId18"/>
    <p:sldLayoutId id="2147483691" r:id="rId19"/>
    <p:sldLayoutId id="2147483693" r:id="rId20"/>
    <p:sldLayoutId id="2147483701" r:id="rId21"/>
    <p:sldLayoutId id="2147483771" r:id="rId22"/>
    <p:sldLayoutId id="2147483752" r:id="rId23"/>
    <p:sldLayoutId id="2147483697" r:id="rId24"/>
    <p:sldLayoutId id="2147483772" r:id="rId25"/>
    <p:sldLayoutId id="2147483754" r:id="rId26"/>
    <p:sldLayoutId id="2147483699" r:id="rId27"/>
    <p:sldLayoutId id="2147483700" r:id="rId28"/>
    <p:sldLayoutId id="2147483722" r:id="rId29"/>
    <p:sldLayoutId id="2147483682" r:id="rId30"/>
    <p:sldLayoutId id="2147483745" r:id="rId31"/>
    <p:sldLayoutId id="2147483746" r:id="rId32"/>
    <p:sldLayoutId id="2147483667" r:id="rId33"/>
    <p:sldLayoutId id="2147483748" r:id="rId34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 userDrawn="1">
          <p15:clr>
            <a:srgbClr val="F26B43"/>
          </p15:clr>
        </p15:guide>
        <p15:guide id="2" pos="627" userDrawn="1">
          <p15:clr>
            <a:srgbClr val="F26B43"/>
          </p15:clr>
        </p15:guide>
        <p15:guide id="3" pos="7055" userDrawn="1">
          <p15:clr>
            <a:srgbClr val="F26B43"/>
          </p15:clr>
        </p15:guide>
        <p15:guide id="4" orient="horz" pos="838" userDrawn="1">
          <p15:clr>
            <a:srgbClr val="F26B43"/>
          </p15:clr>
        </p15:guide>
        <p15:guide id="5" orient="horz" pos="612" userDrawn="1">
          <p15:clr>
            <a:srgbClr val="F26B43"/>
          </p15:clr>
        </p15:guide>
        <p15:guide id="6" orient="horz" pos="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A36E5A-5668-41FE-BFE6-D6091551F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006" y="2067033"/>
            <a:ext cx="5765982" cy="2428225"/>
          </a:xfrm>
        </p:spPr>
        <p:txBody>
          <a:bodyPr/>
          <a:lstStyle/>
          <a:p>
            <a:r>
              <a:rPr lang="en-US" dirty="0"/>
              <a:t>Scoops Inc. Inventory Summary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Shaghayegh Haghbin</a:t>
            </a:r>
            <a:br>
              <a:rPr lang="en-US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8289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E344-9C61-2F05-C16E-63CE44AB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Scoops Inc. Total Revenues and Costs by Year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9A02A2-740A-2763-0A89-78C60D34F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39" y="3370172"/>
            <a:ext cx="3455703" cy="192704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37899-615B-9540-6143-83B5F0B6B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7297" y="1445513"/>
            <a:ext cx="7504469" cy="3240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the years 2021 through 2023,  the total revenue was $800,000 and total costs were found to be $250,000.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revenue total is higher than the costs total, therefore Scoops Inc. was profitable over the three- year period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48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E344-9C61-2F05-C16E-63CE44AB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Scoops Inc. Profitability by Year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37899-615B-9540-6143-83B5F0B6B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Scoops Inc. was profitable each year from 2021-2023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Profits increased each year as well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graph with blue bars&#10;&#10;Description automatically generated">
            <a:extLst>
              <a:ext uri="{FF2B5EF4-FFF2-40B4-BE49-F238E27FC236}">
                <a16:creationId xmlns:a16="http://schemas.microsoft.com/office/drawing/2014/main" id="{EF12B64E-7758-6993-7D18-6942A7FE2F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182" y="2163921"/>
            <a:ext cx="5471635" cy="352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66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E344-9C61-2F05-C16E-63CE44AB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37899-615B-9540-6143-83B5F0B6B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Scoops Inc. has had net profits in each of the 2021 - 2023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Profitability has risen over the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Break even point would not be reached until a $375,000 drop in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Shipping costs are also significant at $0.10 per unit. We could lower commission costs by changing from a commission to a flat salary based on the latest year's data.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34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6A3004D-B8DE-BE3E-C472-AB69831AC7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2273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USED" val="KPMGFONT"/>
  <p:tag name="CREATEDBY" val="Global PowerPoint Toolbar"/>
  <p:tag name="TOOLBARVERSION" val="5.30a"/>
  <p:tag name="TYPE" val="ScreenWide"/>
  <p:tag name="KEYWORD" val="SCREENWIDE"/>
  <p:tag name="TEMPLATEVERSION" val="17/07/2017 11:56: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heme/theme1.xml><?xml version="1.0" encoding="utf-8"?>
<a:theme xmlns:a="http://schemas.openxmlformats.org/drawingml/2006/main" name="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Pacific Blue">
      <a:srgbClr val="00B8F5"/>
    </a:custClr>
    <a:custClr name="Cobalt Blue">
      <a:srgbClr val="1E49E2"/>
    </a:custClr>
    <a:custClr name="Blue">
      <a:srgbClr val="76D2FF"/>
    </a:custClr>
    <a:custClr name="Purple">
      <a:srgbClr val="7213EA"/>
    </a:custClr>
    <a:custClr name="Light Purple">
      <a:srgbClr val="B497FF"/>
    </a:custClr>
    <a:custClr name="Dark Green">
      <a:srgbClr val="098E7E"/>
    </a:custClr>
    <a:custClr name="Green">
      <a:srgbClr val="00C0AE"/>
    </a:custClr>
    <a:custClr name="Dark Pink">
      <a:srgbClr val="AB0D82"/>
    </a:custClr>
    <a:custClr name="Pink">
      <a:srgbClr val="FD349C"/>
    </a:custClr>
    <a:custClr name="Light Pink">
      <a:srgbClr val="FFA3DA"/>
    </a:custClr>
    <a:custClr name="Grey 2">
      <a:srgbClr val="666666"/>
    </a:custClr>
    <a:custClr name="Dark Purple">
      <a:srgbClr val="510DBC"/>
    </a:custClr>
  </a:custClrLst>
  <a:extLst>
    <a:ext uri="{05A4C25C-085E-4340-85A3-A5531E510DB2}">
      <thm15:themeFamily xmlns:thm15="http://schemas.microsoft.com/office/thememl/2012/main" name="KPMG Widescreen Standard Template.potx  -  Read-Only" id="{A6CE34C2-86CB-49B5-AD07-738224E569AB}" vid="{BAF8F1E6-3A8C-45DC-8B6E-24D722A147F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9a89227-3d98-4929-b41c-5b29521db889">
      <UserInfo>
        <DisplayName>Babers, Alana</DisplayName>
        <AccountId>338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87EDDA88EC34181EAB4851B580C96" ma:contentTypeVersion="9" ma:contentTypeDescription="Create a new document." ma:contentTypeScope="" ma:versionID="c5f5b89cf154c568ce113d39b5d04ce8">
  <xsd:schema xmlns:xsd="http://www.w3.org/2001/XMLSchema" xmlns:xs="http://www.w3.org/2001/XMLSchema" xmlns:p="http://schemas.microsoft.com/office/2006/metadata/properties" xmlns:ns2="21b6cc77-4018-4ea9-8cf9-0e90d69c4df2" xmlns:ns3="a9a89227-3d98-4929-b41c-5b29521db889" targetNamespace="http://schemas.microsoft.com/office/2006/metadata/properties" ma:root="true" ma:fieldsID="88fcac3d5919706cef74ce2bc1c6ad11" ns2:_="" ns3:_="">
    <xsd:import namespace="21b6cc77-4018-4ea9-8cf9-0e90d69c4df2"/>
    <xsd:import namespace="a9a89227-3d98-4929-b41c-5b29521db8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6cc77-4018-4ea9-8cf9-0e90d69c4d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89227-3d98-4929-b41c-5b29521db8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A9C5C9-22FE-468E-B00C-32C11DBC72AA}">
  <ds:schemaRefs>
    <ds:schemaRef ds:uri="http://schemas.microsoft.com/office/2006/metadata/properties"/>
    <ds:schemaRef ds:uri="http://schemas.microsoft.com/office/infopath/2007/PartnerControls"/>
    <ds:schemaRef ds:uri="a9a89227-3d98-4929-b41c-5b29521db889"/>
  </ds:schemaRefs>
</ds:datastoreItem>
</file>

<file path=customXml/itemProps2.xml><?xml version="1.0" encoding="utf-8"?>
<ds:datastoreItem xmlns:ds="http://schemas.openxmlformats.org/officeDocument/2006/customXml" ds:itemID="{E8C3DBAF-24C4-4B51-881C-8E349A801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b6cc77-4018-4ea9-8cf9-0e90d69c4df2"/>
    <ds:schemaRef ds:uri="a9a89227-3d98-4929-b41c-5b29521db8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549DA4-DA4B-4378-8E5A-A4A7D51A19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KPMGWidescreenStandardTemplateV2</Template>
  <TotalTime>732</TotalTime>
  <Words>157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KPMG Bold</vt:lpstr>
      <vt:lpstr>Arial</vt:lpstr>
      <vt:lpstr>KPMG Widescreen [16:9] Feb 2022</vt:lpstr>
      <vt:lpstr>Scoops Inc. Inventory Summary  Shaghayegh Haghbin </vt:lpstr>
      <vt:lpstr>Scoops Inc. Total Revenues and Costs by Year</vt:lpstr>
      <vt:lpstr>Scoops Inc. Profitability by Year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Wide screen template</dc:title>
  <dc:creator>Shaghayegh Haghbin</dc:creator>
  <cp:lastModifiedBy>Shaghayegh Haghbin [sdwh6702]</cp:lastModifiedBy>
  <cp:revision>24</cp:revision>
  <dcterms:created xsi:type="dcterms:W3CDTF">2022-07-27T16:05:15Z</dcterms:created>
  <dcterms:modified xsi:type="dcterms:W3CDTF">2025-05-02T12:20:13Z</dcterms:modified>
  <cp:category>KPMG 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0x0101003B287EDDA88EC34181EAB4851B580C96</vt:lpwstr>
  </property>
</Properties>
</file>